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rial MT Pro Bold" charset="1" panose="020B0802020202020204"/>
      <p:regular r:id="rId18"/>
    </p:embeddedFont>
    <p:embeddedFont>
      <p:font typeface="Arial MT Pro" charset="1" panose="020B0502020202020204"/>
      <p:regular r:id="rId19"/>
    </p:embeddedFont>
    <p:embeddedFont>
      <p:font typeface="Arial MT Pro Italics" charset="1" panose="020B0502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9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51692" y="256344"/>
            <a:ext cx="4360984" cy="1377192"/>
            <a:chOff x="0" y="0"/>
            <a:chExt cx="5814645" cy="1836256"/>
          </a:xfrm>
        </p:grpSpPr>
        <p:sp>
          <p:nvSpPr>
            <p:cNvPr name="Freeform 5" id="5" descr="Facultad de Ingeniería | UNA Académico"/>
            <p:cNvSpPr/>
            <p:nvPr/>
          </p:nvSpPr>
          <p:spPr>
            <a:xfrm flipH="false" flipV="false" rot="0">
              <a:off x="0" y="0"/>
              <a:ext cx="5814695" cy="1836293"/>
            </a:xfrm>
            <a:custGeom>
              <a:avLst/>
              <a:gdLst/>
              <a:ahLst/>
              <a:cxnLst/>
              <a:rect r="r" b="b" t="t" l="l"/>
              <a:pathLst>
                <a:path h="1836293" w="5814695">
                  <a:moveTo>
                    <a:pt x="0" y="0"/>
                  </a:moveTo>
                  <a:lnTo>
                    <a:pt x="5814695" y="0"/>
                  </a:lnTo>
                  <a:lnTo>
                    <a:pt x="5814695" y="1836293"/>
                  </a:lnTo>
                  <a:lnTo>
                    <a:pt x="0" y="183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" b="2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rot="-5343324">
            <a:off x="4398611" y="933705"/>
            <a:ext cx="1155565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167780" y="408282"/>
            <a:ext cx="10857194" cy="120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Departamento de Electrónica y Mecatrónica (DIEM)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800000"/>
                </a:solidFill>
                <a:latin typeface="Aptos Bold"/>
                <a:ea typeface="Aptos Bold"/>
                <a:cs typeface="Aptos Bold"/>
                <a:sym typeface="Aptos Bold"/>
              </a:rPr>
              <a:t>Maestría en Ciencias de la Inteligencia Artificial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758228"/>
            <a:ext cx="18288000" cy="8528772"/>
            <a:chOff x="0" y="0"/>
            <a:chExt cx="24384000" cy="11371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1371707"/>
            </a:xfrm>
            <a:custGeom>
              <a:avLst/>
              <a:gdLst/>
              <a:ahLst/>
              <a:cxnLst/>
              <a:rect r="r" b="b" t="t" l="l"/>
              <a:pathLst>
                <a:path h="1137170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371707"/>
                  </a:lnTo>
                  <a:lnTo>
                    <a:pt x="0" y="11371707"/>
                  </a:lnTo>
                  <a:close/>
                </a:path>
              </a:pathLst>
            </a:custGeom>
            <a:solidFill>
              <a:srgbClr val="99182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3040" y="3465771"/>
            <a:ext cx="1536192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 modelo de IA para el descubrimiento de antivirales de amplio espectro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2764" y="7300048"/>
            <a:ext cx="12801600" cy="2330196"/>
            <a:chOff x="0" y="0"/>
            <a:chExt cx="17068800" cy="3106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3106928"/>
            </a:xfrm>
            <a:custGeom>
              <a:avLst/>
              <a:gdLst/>
              <a:ahLst/>
              <a:cxnLst/>
              <a:rect r="r" b="b" t="t" l="l"/>
              <a:pathLst>
                <a:path h="310692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106928"/>
                  </a:lnTo>
                  <a:lnTo>
                    <a:pt x="0" y="3106928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7068800" cy="320217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Materia: Redes Neuronales</a:t>
              </a:r>
            </a:p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Profesor: MSc. Ing. Enrique Paiva</a:t>
              </a:r>
            </a:p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Estudiante: Ing. </a:t>
              </a:r>
              <a:r>
                <a:rPr lang="en-US" sz="480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Malena Russo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1195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Problema y motivación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460140" y="2908308"/>
            <a:ext cx="8658385" cy="4837873"/>
          </a:xfrm>
          <a:custGeom>
            <a:avLst/>
            <a:gdLst/>
            <a:ahLst/>
            <a:cxnLst/>
            <a:rect r="r" b="b" t="t" l="l"/>
            <a:pathLst>
              <a:path h="4837873" w="8658385">
                <a:moveTo>
                  <a:pt x="0" y="0"/>
                </a:moveTo>
                <a:lnTo>
                  <a:pt x="8658385" y="0"/>
                </a:lnTo>
                <a:lnTo>
                  <a:pt x="8658385" y="4837873"/>
                </a:lnTo>
                <a:lnTo>
                  <a:pt x="0" y="4837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886" y="9654886"/>
            <a:ext cx="526518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Fuente: </a:t>
            </a:r>
            <a:r>
              <a:rPr lang="en-US" sz="2000" i="tru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World Health Organization, (2024)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384433"/>
            <a:ext cx="186309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5340" y="3165483"/>
            <a:ext cx="65997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Descubrir antivirales es costoso y lento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40819" y="3232158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2"/>
                </a:lnTo>
                <a:lnTo>
                  <a:pt x="0" y="375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" y="3892554"/>
            <a:ext cx="86583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5340" y="4619625"/>
            <a:ext cx="80848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Usar Redes Neuronales para rankear compuestos antivirales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0819" y="4767739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98374" y="5857875"/>
            <a:ext cx="33025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Tipo de problema: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5340" y="6581775"/>
            <a:ext cx="21316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Clasificación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0819" y="6689169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2"/>
                </a:lnTo>
                <a:lnTo>
                  <a:pt x="0" y="375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929" y="40248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Dataset y representación molecular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652757" y="3139711"/>
            <a:ext cx="3446261" cy="3086100"/>
            <a:chOff x="0" y="0"/>
            <a:chExt cx="90765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7657" cy="812800"/>
            </a:xfrm>
            <a:custGeom>
              <a:avLst/>
              <a:gdLst/>
              <a:ahLst/>
              <a:cxnLst/>
              <a:rect r="r" b="b" t="t" l="l"/>
              <a:pathLst>
                <a:path h="812800" w="907657">
                  <a:moveTo>
                    <a:pt x="0" y="0"/>
                  </a:moveTo>
                  <a:lnTo>
                    <a:pt x="907657" y="0"/>
                  </a:lnTo>
                  <a:lnTo>
                    <a:pt x="907657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0765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314702" y="3268678"/>
            <a:ext cx="605090" cy="605090"/>
          </a:xfrm>
          <a:custGeom>
            <a:avLst/>
            <a:gdLst/>
            <a:ahLst/>
            <a:cxnLst/>
            <a:rect r="r" b="b" t="t" l="l"/>
            <a:pathLst>
              <a:path h="605090" w="605090">
                <a:moveTo>
                  <a:pt x="0" y="0"/>
                </a:moveTo>
                <a:lnTo>
                  <a:pt x="605091" y="0"/>
                </a:lnTo>
                <a:lnTo>
                  <a:pt x="605091" y="605091"/>
                </a:lnTo>
                <a:lnTo>
                  <a:pt x="0" y="605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920153" y="3571223"/>
            <a:ext cx="738779" cy="725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659074" y="3332166"/>
            <a:ext cx="777997" cy="478115"/>
          </a:xfrm>
          <a:custGeom>
            <a:avLst/>
            <a:gdLst/>
            <a:ahLst/>
            <a:cxnLst/>
            <a:rect r="r" b="b" t="t" l="l"/>
            <a:pathLst>
              <a:path h="478115" w="777997">
                <a:moveTo>
                  <a:pt x="0" y="0"/>
                </a:moveTo>
                <a:lnTo>
                  <a:pt x="777997" y="0"/>
                </a:lnTo>
                <a:lnTo>
                  <a:pt x="777997" y="478115"/>
                </a:lnTo>
                <a:lnTo>
                  <a:pt x="0" y="478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6328265" y="3797822"/>
            <a:ext cx="19048" cy="1452276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270107" y="5441334"/>
            <a:ext cx="649686" cy="630786"/>
          </a:xfrm>
          <a:custGeom>
            <a:avLst/>
            <a:gdLst/>
            <a:ahLst/>
            <a:cxnLst/>
            <a:rect r="r" b="b" t="t" l="l"/>
            <a:pathLst>
              <a:path h="630786" w="649686">
                <a:moveTo>
                  <a:pt x="0" y="0"/>
                </a:moveTo>
                <a:lnTo>
                  <a:pt x="649686" y="0"/>
                </a:lnTo>
                <a:lnTo>
                  <a:pt x="649686" y="630786"/>
                </a:lnTo>
                <a:lnTo>
                  <a:pt x="0" y="6307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52176" y="5359048"/>
            <a:ext cx="591794" cy="788104"/>
          </a:xfrm>
          <a:custGeom>
            <a:avLst/>
            <a:gdLst/>
            <a:ahLst/>
            <a:cxnLst/>
            <a:rect r="r" b="b" t="t" l="l"/>
            <a:pathLst>
              <a:path h="788104" w="591794">
                <a:moveTo>
                  <a:pt x="0" y="0"/>
                </a:moveTo>
                <a:lnTo>
                  <a:pt x="591794" y="0"/>
                </a:lnTo>
                <a:lnTo>
                  <a:pt x="591794" y="788104"/>
                </a:lnTo>
                <a:lnTo>
                  <a:pt x="0" y="7881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5958876" y="5753100"/>
            <a:ext cx="793300" cy="362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283658" y="3139711"/>
            <a:ext cx="3401241" cy="3086100"/>
            <a:chOff x="0" y="0"/>
            <a:chExt cx="895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5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95800">
                  <a:moveTo>
                    <a:pt x="0" y="0"/>
                  </a:moveTo>
                  <a:lnTo>
                    <a:pt x="895800" y="0"/>
                  </a:lnTo>
                  <a:lnTo>
                    <a:pt x="895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95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517910" y="3747275"/>
            <a:ext cx="822777" cy="594814"/>
          </a:xfrm>
          <a:custGeom>
            <a:avLst/>
            <a:gdLst/>
            <a:ahLst/>
            <a:cxnLst/>
            <a:rect r="r" b="b" t="t" l="l"/>
            <a:pathLst>
              <a:path h="594814" w="822777">
                <a:moveTo>
                  <a:pt x="0" y="0"/>
                </a:moveTo>
                <a:lnTo>
                  <a:pt x="822777" y="0"/>
                </a:lnTo>
                <a:lnTo>
                  <a:pt x="822777" y="594814"/>
                </a:lnTo>
                <a:lnTo>
                  <a:pt x="0" y="5948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08563" y="3678613"/>
            <a:ext cx="771044" cy="714968"/>
          </a:xfrm>
          <a:custGeom>
            <a:avLst/>
            <a:gdLst/>
            <a:ahLst/>
            <a:cxnLst/>
            <a:rect r="r" b="b" t="t" l="l"/>
            <a:pathLst>
              <a:path h="714968" w="771044">
                <a:moveTo>
                  <a:pt x="0" y="0"/>
                </a:moveTo>
                <a:lnTo>
                  <a:pt x="771044" y="0"/>
                </a:lnTo>
                <a:lnTo>
                  <a:pt x="771044" y="714968"/>
                </a:lnTo>
                <a:lnTo>
                  <a:pt x="0" y="7149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18901" y="3635706"/>
            <a:ext cx="552272" cy="817953"/>
          </a:xfrm>
          <a:custGeom>
            <a:avLst/>
            <a:gdLst/>
            <a:ahLst/>
            <a:cxnLst/>
            <a:rect r="r" b="b" t="t" l="l"/>
            <a:pathLst>
              <a:path h="817953" w="552272">
                <a:moveTo>
                  <a:pt x="0" y="0"/>
                </a:moveTo>
                <a:lnTo>
                  <a:pt x="552272" y="0"/>
                </a:lnTo>
                <a:lnTo>
                  <a:pt x="552272" y="817952"/>
                </a:lnTo>
                <a:lnTo>
                  <a:pt x="0" y="8179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517910" y="4727093"/>
            <a:ext cx="736742" cy="832813"/>
          </a:xfrm>
          <a:custGeom>
            <a:avLst/>
            <a:gdLst/>
            <a:ahLst/>
            <a:cxnLst/>
            <a:rect r="r" b="b" t="t" l="l"/>
            <a:pathLst>
              <a:path h="832813" w="736742">
                <a:moveTo>
                  <a:pt x="0" y="0"/>
                </a:moveTo>
                <a:lnTo>
                  <a:pt x="736742" y="0"/>
                </a:lnTo>
                <a:lnTo>
                  <a:pt x="736742" y="832814"/>
                </a:lnTo>
                <a:lnTo>
                  <a:pt x="0" y="8328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88950" y="4625815"/>
            <a:ext cx="990657" cy="1000436"/>
          </a:xfrm>
          <a:custGeom>
            <a:avLst/>
            <a:gdLst/>
            <a:ahLst/>
            <a:cxnLst/>
            <a:rect r="r" b="b" t="t" l="l"/>
            <a:pathLst>
              <a:path h="1000436" w="990657">
                <a:moveTo>
                  <a:pt x="0" y="0"/>
                </a:moveTo>
                <a:lnTo>
                  <a:pt x="990657" y="0"/>
                </a:lnTo>
                <a:lnTo>
                  <a:pt x="990657" y="1000435"/>
                </a:lnTo>
                <a:lnTo>
                  <a:pt x="0" y="10004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002417" y="4625815"/>
            <a:ext cx="585241" cy="867748"/>
          </a:xfrm>
          <a:custGeom>
            <a:avLst/>
            <a:gdLst/>
            <a:ahLst/>
            <a:cxnLst/>
            <a:rect r="r" b="b" t="t" l="l"/>
            <a:pathLst>
              <a:path h="867748" w="585241">
                <a:moveTo>
                  <a:pt x="0" y="0"/>
                </a:moveTo>
                <a:lnTo>
                  <a:pt x="585240" y="0"/>
                </a:lnTo>
                <a:lnTo>
                  <a:pt x="585240" y="867748"/>
                </a:lnTo>
                <a:lnTo>
                  <a:pt x="0" y="86774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652757" y="2440783"/>
            <a:ext cx="313420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Dataset DrugVirus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42425" y="2440783"/>
            <a:ext cx="3905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Drug Repurposing Hub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28849" y="6403183"/>
            <a:ext cx="21108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C1121F"/>
                </a:solidFill>
                <a:latin typeface="Arial MT Pro"/>
                <a:ea typeface="Arial MT Pro"/>
                <a:cs typeface="Arial MT Pro"/>
                <a:sym typeface="Arial MT Pro"/>
              </a:rPr>
              <a:t>7450 fármacos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23836" y="6482986"/>
            <a:ext cx="185654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C1121F"/>
                </a:solidFill>
                <a:latin typeface="Arial MT Pro"/>
                <a:ea typeface="Arial MT Pro"/>
                <a:cs typeface="Arial MT Pro"/>
                <a:sym typeface="Arial MT Pro"/>
              </a:rPr>
              <a:t>232 fármacos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14311" y="6968761"/>
            <a:ext cx="124420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C1121F"/>
                </a:solidFill>
                <a:latin typeface="Arial MT Pro"/>
                <a:ea typeface="Arial MT Pro"/>
                <a:cs typeface="Arial MT Pro"/>
                <a:sym typeface="Arial MT Pro"/>
              </a:rPr>
              <a:t>153 virus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03427" y="8242354"/>
            <a:ext cx="16921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Fármacos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4215711" y="8512681"/>
            <a:ext cx="2146245" cy="5898"/>
          </a:xfrm>
          <a:prstGeom prst="line">
            <a:avLst/>
          </a:prstGeom>
          <a:ln cap="flat" w="38100">
            <a:solidFill>
              <a:srgbClr val="C1121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3" id="33"/>
          <p:cNvSpPr txBox="true"/>
          <p:nvPr/>
        </p:nvSpPr>
        <p:spPr>
          <a:xfrm rot="0">
            <a:off x="6533037" y="8217406"/>
            <a:ext cx="13975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SMILES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8054470" y="8487733"/>
            <a:ext cx="2146245" cy="5898"/>
          </a:xfrm>
          <a:prstGeom prst="line">
            <a:avLst/>
          </a:prstGeom>
          <a:ln cap="flat" w="38100">
            <a:solidFill>
              <a:srgbClr val="C1121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10324592" y="8207011"/>
            <a:ext cx="555998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Fingerprints (MACCS - 166 Bits)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929" y="40248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Dataset y preprocesamiento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91974" y="2364630"/>
            <a:ext cx="5085679" cy="6192236"/>
            <a:chOff x="0" y="0"/>
            <a:chExt cx="1339438" cy="16308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438" cy="1630877"/>
            </a:xfrm>
            <a:custGeom>
              <a:avLst/>
              <a:gdLst/>
              <a:ahLst/>
              <a:cxnLst/>
              <a:rect r="r" b="b" t="t" l="l"/>
              <a:pathLst>
                <a:path h="1630877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1630877"/>
                  </a:lnTo>
                  <a:lnTo>
                    <a:pt x="0" y="163087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39438" cy="167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91974" y="3030259"/>
            <a:ext cx="5085679" cy="1729340"/>
            <a:chOff x="0" y="0"/>
            <a:chExt cx="1339438" cy="455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9438" cy="455464"/>
            </a:xfrm>
            <a:custGeom>
              <a:avLst/>
              <a:gdLst/>
              <a:ahLst/>
              <a:cxnLst/>
              <a:rect r="r" b="b" t="t" l="l"/>
              <a:pathLst>
                <a:path h="455464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455464"/>
                  </a:lnTo>
                  <a:lnTo>
                    <a:pt x="0" y="455464"/>
                  </a:lnTo>
                  <a:close/>
                </a:path>
              </a:pathLst>
            </a:custGeom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39438" cy="50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91974" y="4708223"/>
            <a:ext cx="5085679" cy="3848643"/>
            <a:chOff x="0" y="0"/>
            <a:chExt cx="1339438" cy="10136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9438" cy="1013634"/>
            </a:xfrm>
            <a:custGeom>
              <a:avLst/>
              <a:gdLst/>
              <a:ahLst/>
              <a:cxnLst/>
              <a:rect r="r" b="b" t="t" l="l"/>
              <a:pathLst>
                <a:path h="1013634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1013634"/>
                  </a:lnTo>
                  <a:lnTo>
                    <a:pt x="0" y="1013634"/>
                  </a:lnTo>
                  <a:close/>
                </a:path>
              </a:pathLst>
            </a:custGeom>
            <a:ln w="38100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39438" cy="106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891974" y="3030259"/>
            <a:ext cx="5085679" cy="1729340"/>
          </a:xfrm>
          <a:custGeom>
            <a:avLst/>
            <a:gdLst/>
            <a:ahLst/>
            <a:cxnLst/>
            <a:rect r="r" b="b" t="t" l="l"/>
            <a:pathLst>
              <a:path h="1729340" w="5085679">
                <a:moveTo>
                  <a:pt x="0" y="0"/>
                </a:moveTo>
                <a:lnTo>
                  <a:pt x="5085680" y="0"/>
                </a:lnTo>
                <a:lnTo>
                  <a:pt x="5085680" y="1729339"/>
                </a:lnTo>
                <a:lnTo>
                  <a:pt x="0" y="1729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1216" t="-96930" r="-9272" b="-12799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91974" y="4708223"/>
            <a:ext cx="5085679" cy="3848643"/>
          </a:xfrm>
          <a:custGeom>
            <a:avLst/>
            <a:gdLst/>
            <a:ahLst/>
            <a:cxnLst/>
            <a:rect r="r" b="b" t="t" l="l"/>
            <a:pathLst>
              <a:path h="3848643" w="5085679">
                <a:moveTo>
                  <a:pt x="0" y="0"/>
                </a:moveTo>
                <a:lnTo>
                  <a:pt x="5085680" y="0"/>
                </a:lnTo>
                <a:lnTo>
                  <a:pt x="5085680" y="3848642"/>
                </a:lnTo>
                <a:lnTo>
                  <a:pt x="0" y="384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-4707" t="-55953" r="-13312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83803" y="2402680"/>
            <a:ext cx="5085679" cy="6192236"/>
            <a:chOff x="0" y="0"/>
            <a:chExt cx="1339438" cy="16308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9438" cy="1630877"/>
            </a:xfrm>
            <a:custGeom>
              <a:avLst/>
              <a:gdLst/>
              <a:ahLst/>
              <a:cxnLst/>
              <a:rect r="r" b="b" t="t" l="l"/>
              <a:pathLst>
                <a:path h="1630877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1630877"/>
                  </a:lnTo>
                  <a:lnTo>
                    <a:pt x="0" y="163087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39438" cy="167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83803" y="3068309"/>
            <a:ext cx="5085679" cy="1729340"/>
            <a:chOff x="0" y="0"/>
            <a:chExt cx="1339438" cy="455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9438" cy="455464"/>
            </a:xfrm>
            <a:custGeom>
              <a:avLst/>
              <a:gdLst/>
              <a:ahLst/>
              <a:cxnLst/>
              <a:rect r="r" b="b" t="t" l="l"/>
              <a:pathLst>
                <a:path h="455464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455464"/>
                  </a:lnTo>
                  <a:lnTo>
                    <a:pt x="0" y="455464"/>
                  </a:lnTo>
                  <a:close/>
                </a:path>
              </a:pathLst>
            </a:custGeom>
            <a:ln w="38100" cap="sq">
              <a:solidFill>
                <a:srgbClr val="FF575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39438" cy="50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83803" y="4746273"/>
            <a:ext cx="5085679" cy="3848643"/>
            <a:chOff x="0" y="0"/>
            <a:chExt cx="1339438" cy="1013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9438" cy="1013634"/>
            </a:xfrm>
            <a:custGeom>
              <a:avLst/>
              <a:gdLst/>
              <a:ahLst/>
              <a:cxnLst/>
              <a:rect r="r" b="b" t="t" l="l"/>
              <a:pathLst>
                <a:path h="1013634" w="1339438">
                  <a:moveTo>
                    <a:pt x="0" y="0"/>
                  </a:moveTo>
                  <a:lnTo>
                    <a:pt x="1339438" y="0"/>
                  </a:lnTo>
                  <a:lnTo>
                    <a:pt x="1339438" y="1013634"/>
                  </a:lnTo>
                  <a:lnTo>
                    <a:pt x="0" y="1013634"/>
                  </a:lnTo>
                  <a:close/>
                </a:path>
              </a:pathLst>
            </a:custGeom>
            <a:ln w="38100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39438" cy="106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83803" y="3068309"/>
            <a:ext cx="5085679" cy="1729340"/>
          </a:xfrm>
          <a:custGeom>
            <a:avLst/>
            <a:gdLst/>
            <a:ahLst/>
            <a:cxnLst/>
            <a:rect r="r" b="b" t="t" l="l"/>
            <a:pathLst>
              <a:path h="1729340" w="5085679">
                <a:moveTo>
                  <a:pt x="0" y="0"/>
                </a:moveTo>
                <a:lnTo>
                  <a:pt x="5085679" y="0"/>
                </a:lnTo>
                <a:lnTo>
                  <a:pt x="5085679" y="1729340"/>
                </a:lnTo>
                <a:lnTo>
                  <a:pt x="0" y="1729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1216" t="-96930" r="-9272" b="-127998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83803" y="4746273"/>
            <a:ext cx="5085679" cy="3848643"/>
          </a:xfrm>
          <a:custGeom>
            <a:avLst/>
            <a:gdLst/>
            <a:ahLst/>
            <a:cxnLst/>
            <a:rect r="r" b="b" t="t" l="l"/>
            <a:pathLst>
              <a:path h="3848643" w="5085679">
                <a:moveTo>
                  <a:pt x="0" y="0"/>
                </a:moveTo>
                <a:lnTo>
                  <a:pt x="5085679" y="0"/>
                </a:lnTo>
                <a:lnTo>
                  <a:pt x="5085679" y="3848643"/>
                </a:lnTo>
                <a:lnTo>
                  <a:pt x="0" y="384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-4707" t="-55953" r="-13312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10800000">
            <a:off x="16377601" y="3068309"/>
            <a:ext cx="427619" cy="1729340"/>
          </a:xfrm>
          <a:custGeom>
            <a:avLst/>
            <a:gdLst/>
            <a:ahLst/>
            <a:cxnLst/>
            <a:rect r="r" b="b" t="t" l="l"/>
            <a:pathLst>
              <a:path h="1729340" w="427619">
                <a:moveTo>
                  <a:pt x="0" y="0"/>
                </a:moveTo>
                <a:lnTo>
                  <a:pt x="427619" y="0"/>
                </a:lnTo>
                <a:lnTo>
                  <a:pt x="427619" y="1729340"/>
                </a:lnTo>
                <a:lnTo>
                  <a:pt x="0" y="1729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257725" y="2489336"/>
            <a:ext cx="23541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Features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06039" y="3972454"/>
            <a:ext cx="31275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MACCS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06039" y="5519715"/>
            <a:ext cx="31275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MACCS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7708" y="3743854"/>
            <a:ext cx="15142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SM_DV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6077528"/>
            <a:ext cx="22122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SM_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DRepo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4603448"/>
            <a:ext cx="151426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X=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49554" y="2527386"/>
            <a:ext cx="23541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Virus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97868" y="4010504"/>
            <a:ext cx="31275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1/0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97868" y="5557766"/>
            <a:ext cx="31275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69536" y="3781904"/>
            <a:ext cx="15142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SM_DV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20529" y="6115578"/>
            <a:ext cx="22122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SM_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DRepo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91829" y="4641498"/>
            <a:ext cx="151426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Y=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66401" y="3637704"/>
            <a:ext cx="15142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218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-10800000">
            <a:off x="16377601" y="4708223"/>
            <a:ext cx="951664" cy="3848643"/>
          </a:xfrm>
          <a:custGeom>
            <a:avLst/>
            <a:gdLst/>
            <a:ahLst/>
            <a:cxnLst/>
            <a:rect r="r" b="b" t="t" l="l"/>
            <a:pathLst>
              <a:path h="3848643" w="951664">
                <a:moveTo>
                  <a:pt x="0" y="0"/>
                </a:moveTo>
                <a:lnTo>
                  <a:pt x="951665" y="0"/>
                </a:lnTo>
                <a:lnTo>
                  <a:pt x="951665" y="3848642"/>
                </a:lnTo>
                <a:lnTo>
                  <a:pt x="0" y="38486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7104305" y="6344178"/>
            <a:ext cx="15142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6583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929" y="40248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Test 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sp>
        <p:nvSpPr>
          <p:cNvPr name="AutoShape 7" id="7"/>
          <p:cNvSpPr/>
          <p:nvPr/>
        </p:nvSpPr>
        <p:spPr>
          <a:xfrm flipV="true">
            <a:off x="5635814" y="2855265"/>
            <a:ext cx="2146245" cy="5898"/>
          </a:xfrm>
          <a:prstGeom prst="line">
            <a:avLst/>
          </a:prstGeom>
          <a:ln cap="flat" w="38100">
            <a:solidFill>
              <a:srgbClr val="C1121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040334" y="2412707"/>
            <a:ext cx="9218966" cy="842227"/>
          </a:xfrm>
          <a:custGeom>
            <a:avLst/>
            <a:gdLst/>
            <a:ahLst/>
            <a:cxnLst/>
            <a:rect r="r" b="b" t="t" l="l"/>
            <a:pathLst>
              <a:path h="842227" w="9218966">
                <a:moveTo>
                  <a:pt x="0" y="0"/>
                </a:moveTo>
                <a:lnTo>
                  <a:pt x="9218966" y="0"/>
                </a:lnTo>
                <a:lnTo>
                  <a:pt x="9218966" y="842227"/>
                </a:lnTo>
                <a:lnTo>
                  <a:pt x="0" y="842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2482" y="2584938"/>
            <a:ext cx="30016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Para un virus 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8386" y="4022784"/>
            <a:ext cx="4482239" cy="3079853"/>
            <a:chOff x="0" y="0"/>
            <a:chExt cx="812800" cy="5584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558494"/>
            </a:xfrm>
            <a:custGeom>
              <a:avLst/>
              <a:gdLst/>
              <a:ahLst/>
              <a:cxnLst/>
              <a:rect r="r" b="b" t="t" l="l"/>
              <a:pathLst>
                <a:path h="558494" w="812800">
                  <a:moveTo>
                    <a:pt x="406400" y="0"/>
                  </a:moveTo>
                  <a:cubicBezTo>
                    <a:pt x="181951" y="0"/>
                    <a:pt x="0" y="125023"/>
                    <a:pt x="0" y="279247"/>
                  </a:cubicBezTo>
                  <a:cubicBezTo>
                    <a:pt x="0" y="433471"/>
                    <a:pt x="181951" y="558494"/>
                    <a:pt x="406400" y="558494"/>
                  </a:cubicBezTo>
                  <a:cubicBezTo>
                    <a:pt x="630849" y="558494"/>
                    <a:pt x="812800" y="433471"/>
                    <a:pt x="812800" y="279247"/>
                  </a:cubicBezTo>
                  <a:cubicBezTo>
                    <a:pt x="812800" y="125023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34"/>
              <a:ext cx="660400" cy="501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08691" y="5267436"/>
            <a:ext cx="30016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4000 Fármacos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50218" y="5267436"/>
            <a:ext cx="43210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1 compuesto activo (SM₁)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0218" y="5496036"/>
            <a:ext cx="876764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3999 negativos seleccionados por random sampling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902088" y="5245322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02088" y="6072774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2"/>
                </a:lnTo>
                <a:lnTo>
                  <a:pt x="0" y="375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42482" y="8636162"/>
            <a:ext cx="30016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LOOCV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93213" y="8178962"/>
            <a:ext cx="300163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Predicted Rank del bioactivo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4562691" y="8906489"/>
            <a:ext cx="2146245" cy="5898"/>
          </a:xfrm>
          <a:prstGeom prst="line">
            <a:avLst/>
          </a:prstGeom>
          <a:ln cap="flat" w="38100">
            <a:solidFill>
              <a:srgbClr val="C1121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2649817" y="8407562"/>
            <a:ext cx="30016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 iteraciones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0075578" y="8881541"/>
            <a:ext cx="2146245" cy="5898"/>
          </a:xfrm>
          <a:prstGeom prst="line">
            <a:avLst/>
          </a:prstGeom>
          <a:ln cap="flat" w="38100">
            <a:solidFill>
              <a:srgbClr val="C1121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1195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Arquitectura del modelo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19274" y="2540682"/>
            <a:ext cx="63607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56855" y="2607357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2"/>
                </a:lnTo>
                <a:lnTo>
                  <a:pt x="0" y="37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19274" y="4343613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Entrenamiento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56855" y="4451008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9011" y="3351416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MLP implementada en PyTorch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9011" y="5037174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Adam optimizer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9011" y="5547621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Regularización L2 (weight_decay)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9486" y="6042921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Ponderación de clase (pos_weight)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6899" y="6976371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Parámetros finales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8536" y="7588492"/>
            <a:ext cx="119298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epochs = 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9011" y="8083792"/>
            <a:ext cx="73062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batch_size = 256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56855" y="7043046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1195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Resultados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888681" y="4100399"/>
            <a:ext cx="8510639" cy="5492087"/>
          </a:xfrm>
          <a:custGeom>
            <a:avLst/>
            <a:gdLst/>
            <a:ahLst/>
            <a:cxnLst/>
            <a:rect r="r" b="b" t="t" l="l"/>
            <a:pathLst>
              <a:path h="5492087" w="8510639">
                <a:moveTo>
                  <a:pt x="0" y="0"/>
                </a:moveTo>
                <a:lnTo>
                  <a:pt x="8510638" y="0"/>
                </a:lnTo>
                <a:lnTo>
                  <a:pt x="8510638" y="5492087"/>
                </a:lnTo>
                <a:lnTo>
                  <a:pt x="0" y="549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897455" y="2216622"/>
            <a:ext cx="10493090" cy="1459426"/>
          </a:xfrm>
          <a:custGeom>
            <a:avLst/>
            <a:gdLst/>
            <a:ahLst/>
            <a:cxnLst/>
            <a:rect r="r" b="b" t="t" l="l"/>
            <a:pathLst>
              <a:path h="1459426" w="10493090">
                <a:moveTo>
                  <a:pt x="0" y="0"/>
                </a:moveTo>
                <a:lnTo>
                  <a:pt x="10493090" y="0"/>
                </a:lnTo>
                <a:lnTo>
                  <a:pt x="10493090" y="1459427"/>
                </a:lnTo>
                <a:lnTo>
                  <a:pt x="0" y="1459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1195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42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8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Conclusiones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16836"/>
            <a:ext cx="18288000" cy="270164"/>
            <a:chOff x="0" y="0"/>
            <a:chExt cx="24384000" cy="3602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360172"/>
            </a:xfrm>
            <a:custGeom>
              <a:avLst/>
              <a:gdLst/>
              <a:ahLst/>
              <a:cxnLst/>
              <a:rect r="r" b="b" t="t" l="l"/>
              <a:pathLst>
                <a:path h="3601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0172"/>
                  </a:lnTo>
                  <a:lnTo>
                    <a:pt x="0" y="360172"/>
                  </a:lnTo>
                  <a:close/>
                </a:path>
              </a:pathLst>
            </a:custGeom>
            <a:solidFill>
              <a:srgbClr val="96030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56776" y="3432414"/>
            <a:ext cx="126444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Implementación de red neuronal MLP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090" y="3499089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6776" y="4100275"/>
            <a:ext cx="717163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Evaluación mediante LOOCV ranking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090" y="4166950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4965" y="2634159"/>
            <a:ext cx="49328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0994" y="3432414"/>
            <a:ext cx="126444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Dataset altamente desbalanceado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89182" y="2634159"/>
            <a:ext cx="49328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Desafío principal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17745" y="6321457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17745" y="6989317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1" y="0"/>
                </a:lnTo>
                <a:lnTo>
                  <a:pt x="375761" y="375762"/>
                </a:lnTo>
                <a:lnTo>
                  <a:pt x="0" y="37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060620" y="5523202"/>
            <a:ext cx="13106240" cy="1923316"/>
            <a:chOff x="0" y="0"/>
            <a:chExt cx="17474986" cy="256442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615749" y="997665"/>
              <a:ext cx="16859237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Incorporar otros fingerprints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15749" y="1888146"/>
              <a:ext cx="956217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Evaluar otros arquitecturas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577092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Trabajo futuro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872739" y="3474611"/>
            <a:ext cx="375761" cy="375761"/>
          </a:xfrm>
          <a:custGeom>
            <a:avLst/>
            <a:gdLst/>
            <a:ahLst/>
            <a:cxnLst/>
            <a:rect r="r" b="b" t="t" l="l"/>
            <a:pathLst>
              <a:path h="375761" w="375761">
                <a:moveTo>
                  <a:pt x="0" y="0"/>
                </a:moveTo>
                <a:lnTo>
                  <a:pt x="375762" y="0"/>
                </a:lnTo>
                <a:lnTo>
                  <a:pt x="375762" y="375761"/>
                </a:lnTo>
                <a:lnTo>
                  <a:pt x="0" y="37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DAHC_Shkdiw</dc:identifier>
  <dcterms:modified xsi:type="dcterms:W3CDTF">2011-08-01T06:04:30Z</dcterms:modified>
  <cp:revision>1</cp:revision>
  <dc:title>Examen Final Redes Neuronales</dc:title>
</cp:coreProperties>
</file>